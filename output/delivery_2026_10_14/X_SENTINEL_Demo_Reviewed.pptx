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9a02a2ee5d4435" /><Relationship Type="http://schemas.openxmlformats.org/officeDocument/2006/relationships/extended-properties" Target="/docProps/app.xml" Id="Ra526bb821dce49c7" /><Relationship Type="http://schemas.openxmlformats.org/officeDocument/2006/relationships/officeDocument" Target="/ppt/presentation.xml" Id="R218a49f7a4a3443f" /></Relationships>
</file>

<file path=ppt/presentation.xml><?xml version="1.0" encoding="utf-8"?>
<p:presentation xmlns:p="http://schemas.openxmlformats.org/presentationml/2006/main">
  <p:sldMasterIdLst>
    <p:sldMasterId xmlns:r="http://schemas.openxmlformats.org/officeDocument/2006/relationships" id="2147483648" r:id="R47d0371e317f4b36"/>
  </p:sldMasterIdLst>
  <p:notesMasterIdLst>
    <p:notesMasterId xmlns:r="http://schemas.openxmlformats.org/officeDocument/2006/relationships" r:id="Rfdd66489a40c47f8"/>
  </p:notesMasterIdLst>
  <p:sldIdLst>
    <p:sldId xmlns:r="http://schemas.openxmlformats.org/officeDocument/2006/relationships" id="256" r:id="R55d3d642d09544cf"/>
    <p:sldId xmlns:r="http://schemas.openxmlformats.org/officeDocument/2006/relationships" id="257" r:id="R7c30c553496443ca"/>
    <p:sldId xmlns:r="http://schemas.openxmlformats.org/officeDocument/2006/relationships" id="258" r:id="R7c6b2f58122741f1"/>
    <p:sldId xmlns:r="http://schemas.openxmlformats.org/officeDocument/2006/relationships" id="259" r:id="Rc425be63e9eb46ea"/>
    <p:sldId xmlns:r="http://schemas.openxmlformats.org/officeDocument/2006/relationships" id="260" r:id="Ra26391cb6ba34d1e"/>
    <p:sldId xmlns:r="http://schemas.openxmlformats.org/officeDocument/2006/relationships" id="261" r:id="R6fafd7334c5f4bd9"/>
    <p:sldId xmlns:r="http://schemas.openxmlformats.org/officeDocument/2006/relationships" id="262" r:id="R810ed45cecc545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c744a06ffd4fc3" /><Relationship Type="http://schemas.openxmlformats.org/officeDocument/2006/relationships/slideMaster" Target="/ppt/slideMasters/slideMaster1.xml" Id="R47d0371e317f4b36" /><Relationship Type="http://schemas.openxmlformats.org/officeDocument/2006/relationships/notesMaster" Target="/ppt/notesMasters/notesMaster1.xml" Id="Rfdd66489a40c47f8" /><Relationship Type="http://schemas.openxmlformats.org/officeDocument/2006/relationships/presProps" Target="/ppt/presProps.xml" Id="R69e91337e7674356" /><Relationship Type="http://schemas.openxmlformats.org/officeDocument/2006/relationships/tableStyles" Target="/ppt/tableStyles.xml" Id="Raaed0d707f6a4335" /><Relationship Type="http://schemas.openxmlformats.org/officeDocument/2006/relationships/slide" Target="/ppt/slides/slide1.xml" Id="R55d3d642d09544cf" /><Relationship Type="http://schemas.openxmlformats.org/officeDocument/2006/relationships/slide" Target="/ppt/slides/slide2.xml" Id="R7c30c553496443ca" /><Relationship Type="http://schemas.openxmlformats.org/officeDocument/2006/relationships/slide" Target="/ppt/slides/slide3.xml" Id="R7c6b2f58122741f1" /><Relationship Type="http://schemas.openxmlformats.org/officeDocument/2006/relationships/slide" Target="/ppt/slides/slide4.xml" Id="Rc425be63e9eb46ea" /><Relationship Type="http://schemas.openxmlformats.org/officeDocument/2006/relationships/slide" Target="/ppt/slides/slide5.xml" Id="Ra26391cb6ba34d1e" /><Relationship Type="http://schemas.openxmlformats.org/officeDocument/2006/relationships/slide" Target="/ppt/slides/slide6.xml" Id="R6fafd7334c5f4bd9" /><Relationship Type="http://schemas.openxmlformats.org/officeDocument/2006/relationships/slide" Target="/ppt/slides/slide7.xml" Id="R810ed45cecc545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c52b22b31a48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0a5c67721b4bc4" /><Relationship Type="http://schemas.openxmlformats.org/officeDocument/2006/relationships/notesMaster" Target="/ppt/notesMasters/notesMaster1.xml" Id="Rfc64eaaa63b940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816c7a730a4272" /><Relationship Type="http://schemas.openxmlformats.org/officeDocument/2006/relationships/notesMaster" Target="/ppt/notesMasters/notesMaster1.xml" Id="Rcc826cdb372d4d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d996b2ba514d4e" /><Relationship Type="http://schemas.openxmlformats.org/officeDocument/2006/relationships/notesMaster" Target="/ppt/notesMasters/notesMaster1.xml" Id="Rf411e50bf6fb44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3fc8874a144ad4" /><Relationship Type="http://schemas.openxmlformats.org/officeDocument/2006/relationships/notesMaster" Target="/ppt/notesMasters/notesMaster1.xml" Id="R1bf233a4ff074b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bcbe8e50a54ab8" /><Relationship Type="http://schemas.openxmlformats.org/officeDocument/2006/relationships/notesMaster" Target="/ppt/notesMasters/notesMaster1.xml" Id="R3e6486b02a964b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8d5411a6ab489f" /><Relationship Type="http://schemas.openxmlformats.org/officeDocument/2006/relationships/notesMaster" Target="/ppt/notesMasters/notesMaster1.xml" Id="Reb94ce60693b47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47dfa0a3504c4c" /><Relationship Type="http://schemas.openxmlformats.org/officeDocument/2006/relationships/notesMaster" Target="/ppt/notesMasters/notesMaster1.xml" Id="R27085abaa21b43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giao diện và luồng triển khai hiện tại. Không trình bày demo sản phẩm như bằng chứng tăng tỷ lệ phát hiện. Báo cáo nghiên cứu vẫn dựa trên các mô hình và ngưỡng đã cố định.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src/xsentinel/dashboard_presentation.py và kết quả Detector.predict hiện hành. Cảnh báo trigger dựa trên phương pháp đang chọn, không phải OR của tất cả phương pháp.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chụp trình duyệt thật từ bản triển khai ngày 14/10/2026. Dùng fixture lành do nhóm kiểm soát, chỉ đọc file và không chạy binary. V3 dự đoán mã độc cho fixture lành: đây là một ca phân loại nhầm, không phải phát hiện malware.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dashboard/app.py, dashboard_presentation.py; các bài kiểm tra xác nhận bật chi tiết không gọi predict lần nữa. Behavioral dùng đặc trưng import/export tĩnh, không phải hành vi khi chạy.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outputs/delivery_2026_10_14/before/baseline.json và thư mục evidence after/baseline.json. Mỗi cấu hình đo 11 đầu vào sau warm-up, một fixture và 10 vector reference. Không thay cho ma trận nghiên cứu, không kết luận tăng tốc từ mẫu nhỏ.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outputs/delivery_2026_10_14/stack_v10/restore.json. Mọi bảng so sánh số dòng và SHA-256 của hàng canonical; API lịch sử và 100 chi tiết khớp. Không ghi đè DB đang dùng.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kế hoạch chung đã duyệt và yêu cầu người dùng. Máy vật lý thứ hai được hoãn tới 15/10/2026. Authentication, M5 và thí nghiệm mới là nhánh có điều kiện. V2/V3 extraction thành công không chứng minh tấn công binary thực có tính khả thi.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9a38d286864c2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643ee850e1472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949083f4904b7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59c86074639485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dca7249ecfb48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5ec7bd5b1a4b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314C24-2FF3-4E15-9869-C5896B7A901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4CD73C4-8927-420F-AA1E-CC069B84F85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4463208-0FA0-4EC4-BE09-9B477E22A29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6D7788-C815-4BBE-B3E2-D59919CB51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C1883A8-42B5-4DC2-8F2C-8DD1AF2D7A0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792DB36-585B-45F7-9EA6-CAF4682968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0253BA-C3F9-4FB1-ADDD-EF16BF1F2B4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37F783A-66D7-462F-B054-DF5DF140160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EA2170-D06C-4969-BB61-25CBD6F257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1C510D-4A84-42E5-B045-F3D63A3C7D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8045844f7b49a4" /><Relationship Type="http://schemas.openxmlformats.org/officeDocument/2006/relationships/slideLayout" Target="/ppt/slideLayouts/slideLayout1.xml" Id="R93336301c5ed4e68" /><Relationship Type="http://schemas.openxmlformats.org/officeDocument/2006/relationships/slideLayout" Target="/ppt/slideLayouts/slideLayout2.xml" Id="R6d02a2641d5e4fc7" /><Relationship Type="http://schemas.openxmlformats.org/officeDocument/2006/relationships/slideLayout" Target="/ppt/slideLayouts/slideLayout3.xml" Id="R2c0764b4077348b6" /><Relationship Type="http://schemas.openxmlformats.org/officeDocument/2006/relationships/slideLayout" Target="/ppt/slideLayouts/slideLayout4.xml" Id="R6d1d1792139a4bb2" /><Relationship Type="http://schemas.openxmlformats.org/officeDocument/2006/relationships/slideLayout" Target="/ppt/slideLayouts/slideLayout5.xml" Id="Re27f8af818774577" /><Relationship Type="http://schemas.openxmlformats.org/officeDocument/2006/relationships/slideLayout" Target="/ppt/slideLayouts/slideLayout6.xml" Id="R9d400b090c8241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336301c5ed4e68"/>
    <p:sldLayoutId xmlns:r="http://schemas.openxmlformats.org/officeDocument/2006/relationships" id="2147483650" r:id="R6d02a2641d5e4fc7"/>
    <p:sldLayoutId xmlns:r="http://schemas.openxmlformats.org/officeDocument/2006/relationships" id="2147483651" r:id="R2c0764b4077348b6"/>
    <p:sldLayoutId xmlns:r="http://schemas.openxmlformats.org/officeDocument/2006/relationships" id="2147483652" r:id="R6d1d1792139a4bb2"/>
    <p:sldLayoutId xmlns:r="http://schemas.openxmlformats.org/officeDocument/2006/relationships" id="2147483653" r:id="Re27f8af818774577"/>
    <p:sldLayoutId xmlns:r="http://schemas.openxmlformats.org/officeDocument/2006/relationships" id="2147483654" r:id="R9d400b090c8241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bb5c54c12e04fc2" /><Relationship Type="http://schemas.openxmlformats.org/officeDocument/2006/relationships/notesSlide" Target="/ppt/notesSlides/notesSlide1.xml" Id="Ra69e2861a2f546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94827d016b947d4" /><Relationship Type="http://schemas.openxmlformats.org/officeDocument/2006/relationships/notesSlide" Target="/ppt/notesSlides/notesSlide2.xml" Id="Red0b19ff4a6743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71651691ec34ae8" /><Relationship Type="http://schemas.openxmlformats.org/officeDocument/2006/relationships/image" Target="/ppt/media/image.jpeg" Id="Rf0992ac6db72487d" /><Relationship Type="http://schemas.openxmlformats.org/officeDocument/2006/relationships/notesSlide" Target="/ppt/notesSlides/notesSlide3.xml" Id="Rd1d8523d0fb842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5d5527b130549ae" /><Relationship Type="http://schemas.openxmlformats.org/officeDocument/2006/relationships/notesSlide" Target="/ppt/notesSlides/notesSlide4.xml" Id="Rd5b82c40af574e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dfd3a305ed74a1a" /><Relationship Type="http://schemas.openxmlformats.org/officeDocument/2006/relationships/notesSlide" Target="/ppt/notesSlides/notesSlide5.xml" Id="R429163c1fb8443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cc4a950dec94dc8" /><Relationship Type="http://schemas.openxmlformats.org/officeDocument/2006/relationships/image" Target="/ppt/media/image2.jpeg" Id="R60102e89e0da4172" /><Relationship Type="http://schemas.openxmlformats.org/officeDocument/2006/relationships/notesSlide" Target="/ppt/notesSlides/notesSlide6.xml" Id="Rbca1e90d988e43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55f15ace9b14b57" /><Relationship Type="http://schemas.openxmlformats.org/officeDocument/2006/relationships/notesSlide" Target="/ppt/notesSlides/notesSlide7.xml" Id="R7da56a2fc42b499c"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FFFF31E-DEA5-4332-97E3-C491F65B7617}"/>
              </a:ext>
            </a:extLst>
          </p:cNvPr>
          <p:cNvSpPr>
            <a:spLocks xmlns:a="http://schemas.openxmlformats.org/drawingml/2006/main" noGrp="1"/>
          </p:cNvSpPr>
          <p:nvPr/>
        </p:nvSpPr>
        <p:spPr>
          <a:xfrm xmlns:a="http://schemas.openxmlformats.org/drawingml/2006/main">
            <a:off x="609600" y="1476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172B4D"/>
                </a:solidFill>
                <a:latin typeface="Arial"/>
                <a:ea typeface="Arial"/>
                <a:cs typeface="Arial"/>
              </a:defRPr>
            </a:defPPr>
          </a:lstStyle>
          <a:p xmlns:a="http://schemas.openxmlformats.org/drawingml/2006/main">
            <a:pPr>
              <a:defRPr sz="5400" b="1">
                <a:solidFill>
                  <a:srgbClr val="172B4D"/>
                </a:solidFill>
                <a:latin typeface="Arial"/>
                <a:ea typeface="Arial"/>
                <a:cs typeface="Arial"/>
              </a:defRPr>
            </a:pPr>
            <a:r>
              <a:rPr sz="5400" b="1">
                <a:solidFill>
                  <a:srgbClr val="172B4D"/>
                </a:solidFill>
                <a:latin typeface="Arial"/>
                <a:ea typeface="Arial"/>
                <a:cs typeface="Arial"/>
              </a:rPr>
              <a:t>X-SENTINEL</a:t>
            </a:r>
          </a:p>
        </p:txBody>
      </p:sp>
      <p:sp>
        <p:nvSpPr>
          <p:cNvPr id="2" name="">
            <a:extLst xmlns:a="http://schemas.openxmlformats.org/drawingml/2006/main">
              <a:ext uri="{FF2B5EF4-FFF2-40B4-BE49-F238E27FC236}">
                <a16:creationId xmlns:a16="http://schemas.microsoft.com/office/drawing/2014/main" id="{479BB3A6-B8E3-44E0-AD12-539E88055DFF}"/>
              </a:ext>
            </a:extLst>
          </p:cNvPr>
          <p:cNvSpPr>
            <a:spLocks xmlns:a="http://schemas.openxmlformats.org/drawingml/2006/main" noGrp="1"/>
          </p:cNvSpPr>
          <p:nvPr/>
        </p:nvSpPr>
        <p:spPr>
          <a:xfrm xmlns:a="http://schemas.openxmlformats.org/drawingml/2006/main">
            <a:off x="609600" y="28575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087F8C"/>
                </a:solidFill>
                <a:latin typeface="Arial"/>
                <a:ea typeface="Arial"/>
                <a:cs typeface="Arial"/>
              </a:defRPr>
            </a:defPPr>
          </a:lstStyle>
          <a:p xmlns:a="http://schemas.openxmlformats.org/drawingml/2006/main">
            <a:pPr>
              <a:defRPr sz="3300" b="0">
                <a:solidFill>
                  <a:srgbClr val="087F8C"/>
                </a:solidFill>
                <a:latin typeface="Arial"/>
                <a:ea typeface="Arial"/>
                <a:cs typeface="Arial"/>
              </a:defRPr>
            </a:pPr>
            <a:r>
              <a:rPr sz="3300" b="0">
                <a:solidFill>
                  <a:srgbClr val="087F8C"/>
                </a:solidFill>
                <a:latin typeface="Arial"/>
                <a:ea typeface="Arial"/>
                <a:cs typeface="Arial"/>
              </a:rPr>
              <a:t>Demo phân tích PE</a:t>
            </a:r>
          </a:p>
        </p:txBody>
      </p:sp>
      <p:sp>
        <p:nvSpPr>
          <p:cNvPr id="3" name="">
            <a:extLst xmlns:a="http://schemas.openxmlformats.org/drawingml/2006/main">
              <a:ext uri="{FF2B5EF4-FFF2-40B4-BE49-F238E27FC236}">
                <a16:creationId xmlns:a16="http://schemas.microsoft.com/office/drawing/2014/main" id="{33A1547C-2465-4219-A61E-03E3406D7155}"/>
              </a:ext>
            </a:extLst>
          </p:cNvPr>
          <p:cNvSpPr>
            <a:spLocks xmlns:a="http://schemas.openxmlformats.org/drawingml/2006/main" noGrp="1"/>
          </p:cNvSpPr>
          <p:nvPr/>
        </p:nvSpPr>
        <p:spPr>
          <a:xfrm xmlns:a="http://schemas.openxmlformats.org/drawingml/2006/main">
            <a:off x="609600" y="43338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42536A"/>
                </a:solidFill>
                <a:latin typeface="Arial"/>
                <a:ea typeface="Arial"/>
                <a:cs typeface="Arial"/>
              </a:defRPr>
            </a:defPPr>
          </a:lstStyle>
          <a:p xmlns:a="http://schemas.openxmlformats.org/drawingml/2006/main">
            <a:pPr>
              <a:defRPr sz="2250" b="0">
                <a:solidFill>
                  <a:srgbClr val="42536A"/>
                </a:solidFill>
                <a:latin typeface="Arial"/>
                <a:ea typeface="Arial"/>
                <a:cs typeface="Arial"/>
              </a:defRPr>
            </a:pPr>
            <a:r>
              <a:rPr sz="2250" b="0">
                <a:solidFill>
                  <a:srgbClr val="42536A"/>
                </a:solidFill>
                <a:latin typeface="Arial"/>
                <a:ea typeface="Arial"/>
                <a:cs typeface="Arial"/>
              </a:rPr>
              <a:t>Bản triển khai ngày 14/10/2026</a:t>
            </a:r>
          </a:p>
        </p:txBody>
      </p:sp>
    </p:spTree>
    <p:extLst>
      <p:ext uri="{BB962C8B-B14F-4D97-AF65-F5344CB8AC3E}">
        <p14:creationId xmlns:p14="http://schemas.microsoft.com/office/powerpoint/2010/main" val="1573552183"/>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556256-0BC9-412A-8B78-C786FD050556}"/>
              </a:ext>
            </a:extLst>
          </p:cNvPr>
          <p:cNvSpPr>
            <a:spLocks xmlns:a="http://schemas.openxmlformats.org/drawingml/2006/main" noGrp="1"/>
          </p:cNvSpPr>
          <p:nvPr/>
        </p:nvSpPr>
        <p:spPr>
          <a:xfrm xmlns:a="http://schemas.openxmlformats.org/drawingml/2006/main">
            <a:off x="609600" y="4762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4D"/>
                </a:solidFill>
                <a:latin typeface="Arial"/>
                <a:ea typeface="Arial"/>
                <a:cs typeface="Arial"/>
              </a:defRPr>
            </a:defPPr>
          </a:lstStyle>
          <a:p xmlns:a="http://schemas.openxmlformats.org/drawingml/2006/main">
            <a:pPr>
              <a:defRPr sz="3300" b="1">
                <a:solidFill>
                  <a:srgbClr val="172B4D"/>
                </a:solidFill>
                <a:latin typeface="Arial"/>
                <a:ea typeface="Arial"/>
                <a:cs typeface="Arial"/>
              </a:defRPr>
            </a:pPr>
            <a:r>
              <a:rPr sz="3300" b="1">
                <a:solidFill>
                  <a:srgbClr val="172B4D"/>
                </a:solidFill>
                <a:latin typeface="Arial"/>
                <a:ea typeface="Arial"/>
                <a:cs typeface="Arial"/>
              </a:rPr>
              <a:t>Phân loại file và cảnh báo trigger</a:t>
            </a:r>
          </a:p>
        </p:txBody>
      </p:sp>
      <p:sp>
        <p:nvSpPr>
          <p:cNvPr id="2" name="">
            <a:extLst xmlns:a="http://schemas.openxmlformats.org/drawingml/2006/main">
              <a:ext uri="{FF2B5EF4-FFF2-40B4-BE49-F238E27FC236}">
                <a16:creationId xmlns:a16="http://schemas.microsoft.com/office/drawing/2014/main" id="{573CD974-983D-4209-8D53-28AF1CAC3995}"/>
              </a:ext>
            </a:extLst>
          </p:cNvPr>
          <p:cNvSpPr>
            <a:spLocks xmlns:a="http://schemas.openxmlformats.org/drawingml/2006/main" noGrp="1"/>
          </p:cNvSpPr>
          <p:nvPr/>
        </p:nvSpPr>
        <p:spPr>
          <a:xfrm xmlns:a="http://schemas.openxmlformats.org/drawingml/2006/main">
            <a:off x="11144250" y="6324600"/>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2536A"/>
                </a:solidFill>
                <a:latin typeface="Arial"/>
                <a:ea typeface="Arial"/>
                <a:cs typeface="Arial"/>
              </a:defRPr>
            </a:defPPr>
          </a:lstStyle>
          <a:p xmlns:a="http://schemas.openxmlformats.org/drawingml/2006/main">
            <a:pPr>
              <a:defRPr sz="1725" b="0">
                <a:solidFill>
                  <a:srgbClr val="42536A"/>
                </a:solidFill>
                <a:latin typeface="Arial"/>
                <a:ea typeface="Arial"/>
                <a:cs typeface="Arial"/>
              </a:defRPr>
            </a:pPr>
            <a:r>
              <a:rPr sz="1725" b="0">
                <a:solidFill>
                  <a:srgbClr val="42536A"/>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9824D520-8688-433B-93C4-CC2D6949C827}"/>
              </a:ext>
            </a:extLst>
          </p:cNvPr>
          <p:cNvSpPr>
            <a:spLocks xmlns:a="http://schemas.openxmlformats.org/drawingml/2006/main" noGrp="1"/>
          </p:cNvSpPr>
          <p:nvPr/>
        </p:nvSpPr>
        <p:spPr>
          <a:xfrm xmlns:a="http://schemas.openxmlformats.org/drawingml/2006/main">
            <a:off x="609600" y="17145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F8C"/>
                </a:solidFill>
                <a:latin typeface="Arial"/>
                <a:ea typeface="Arial"/>
                <a:cs typeface="Arial"/>
              </a:defRPr>
            </a:def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Mô hình phân loại</a:t>
            </a:r>
          </a:p>
        </p:txBody>
      </p:sp>
      <p:sp>
        <p:nvSpPr>
          <p:cNvPr id="4" name="">
            <a:extLst xmlns:a="http://schemas.openxmlformats.org/drawingml/2006/main">
              <a:ext uri="{FF2B5EF4-FFF2-40B4-BE49-F238E27FC236}">
                <a16:creationId xmlns:a16="http://schemas.microsoft.com/office/drawing/2014/main" id="{ACB5EB6A-CE4E-43A9-9A4E-0FE57DDBBE6E}"/>
              </a:ext>
            </a:extLst>
          </p:cNvPr>
          <p:cNvSpPr>
            <a:spLocks xmlns:a="http://schemas.openxmlformats.org/drawingml/2006/main" noGrp="1"/>
          </p:cNvSpPr>
          <p:nvPr/>
        </p:nvSpPr>
        <p:spPr>
          <a:xfrm xmlns:a="http://schemas.openxmlformats.org/drawingml/2006/main">
            <a:off x="609600" y="245745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B4D"/>
                </a:solidFill>
                <a:latin typeface="Arial"/>
                <a:ea typeface="Arial"/>
                <a:cs typeface="Arial"/>
              </a:defRPr>
            </a:defPPr>
          </a:lstStyle>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Dự đoán file lành hoặc mã độc.</a:t>
            </a:r>
          </a:p>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Điểm dự đoán không bảo đảm thực tế.</a:t>
            </a:r>
          </a:p>
        </p:txBody>
      </p:sp>
      <p:sp>
        <p:nvSpPr>
          <p:cNvPr id="5" name="">
            <a:extLst xmlns:a="http://schemas.openxmlformats.org/drawingml/2006/main">
              <a:ext uri="{FF2B5EF4-FFF2-40B4-BE49-F238E27FC236}">
                <a16:creationId xmlns:a16="http://schemas.microsoft.com/office/drawing/2014/main" id="{93A1CC41-799D-4CF0-9CD8-5B22A516F8FE}"/>
              </a:ext>
            </a:extLst>
          </p:cNvPr>
          <p:cNvSpPr>
            <a:spLocks xmlns:a="http://schemas.openxmlformats.org/drawingml/2006/main" noGrp="1"/>
          </p:cNvSpPr>
          <p:nvPr/>
        </p:nvSpPr>
        <p:spPr>
          <a:xfrm xmlns:a="http://schemas.openxmlformats.org/drawingml/2006/main">
            <a:off x="6572250" y="1714500"/>
            <a:ext cx="5010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F8C"/>
                </a:solidFill>
                <a:latin typeface="Arial"/>
                <a:ea typeface="Arial"/>
                <a:cs typeface="Arial"/>
              </a:defRPr>
            </a:def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Dấu hiệu trigger</a:t>
            </a:r>
          </a:p>
        </p:txBody>
      </p:sp>
      <p:sp>
        <p:nvSpPr>
          <p:cNvPr id="6" name="">
            <a:extLst xmlns:a="http://schemas.openxmlformats.org/drawingml/2006/main">
              <a:ext uri="{FF2B5EF4-FFF2-40B4-BE49-F238E27FC236}">
                <a16:creationId xmlns:a16="http://schemas.microsoft.com/office/drawing/2014/main" id="{233ADBF0-9C03-4C78-AAF0-B492DAA0CE23}"/>
              </a:ext>
            </a:extLst>
          </p:cNvPr>
          <p:cNvSpPr>
            <a:spLocks xmlns:a="http://schemas.openxmlformats.org/drawingml/2006/main" noGrp="1"/>
          </p:cNvSpPr>
          <p:nvPr/>
        </p:nvSpPr>
        <p:spPr>
          <a:xfrm xmlns:a="http://schemas.openxmlformats.org/drawingml/2006/main">
            <a:off x="6572250" y="2457450"/>
            <a:ext cx="50101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B4D"/>
                </a:solidFill>
                <a:latin typeface="Arial"/>
                <a:ea typeface="Arial"/>
                <a:cs typeface="Arial"/>
              </a:defRPr>
            </a:defPPr>
          </a:lstStyle>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Điểm vượt ngưỡng cố định thì cảnh báo.</a:t>
            </a:r>
          </a:p>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Chưa cảnh báo vẫn cần xem xét file.</a:t>
            </a:r>
          </a:p>
        </p:txBody>
      </p:sp>
      <p:sp>
        <p:nvSpPr>
          <p:cNvPr id="7" name="">
            <a:extLst xmlns:a="http://schemas.openxmlformats.org/drawingml/2006/main">
              <a:ext uri="{FF2B5EF4-FFF2-40B4-BE49-F238E27FC236}">
                <a16:creationId xmlns:a16="http://schemas.microsoft.com/office/drawing/2014/main" id="{765F23FC-6AB4-4B68-A86A-C6596686C8C5}"/>
              </a:ext>
            </a:extLst>
          </p:cNvPr>
          <p:cNvSpPr>
            <a:spLocks xmlns:a="http://schemas.openxmlformats.org/drawingml/2006/main" noGrp="1"/>
          </p:cNvSpPr>
          <p:nvPr/>
        </p:nvSpPr>
        <p:spPr>
          <a:xfrm xmlns:a="http://schemas.openxmlformats.org/drawingml/2006/main">
            <a:off x="609600" y="48577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B4D"/>
                </a:solidFill>
                <a:latin typeface="Arial"/>
                <a:ea typeface="Arial"/>
                <a:cs typeface="Arial"/>
              </a:defRPr>
            </a:defPPr>
          </a:lstStyle>
          <a:p xmlns:a="http://schemas.openxmlformats.org/drawingml/2006/main">
            <a:pPr>
              <a:defRPr sz="2250" b="1">
                <a:solidFill>
                  <a:srgbClr val="172B4D"/>
                </a:solidFill>
                <a:latin typeface="Arial"/>
                <a:ea typeface="Arial"/>
                <a:cs typeface="Arial"/>
              </a:defRPr>
            </a:pPr>
            <a:r>
              <a:rPr sz="2250" b="1">
                <a:solidFill>
                  <a:srgbClr val="172B4D"/>
                </a:solidFill>
                <a:latin typeface="Arial"/>
                <a:ea typeface="Arial"/>
                <a:cs typeface="Arial"/>
              </a:rPr>
              <a:t>Ví dụ: dự đoán lành + có cảnh báo → xem xét cả hai kết quả.</a:t>
            </a:r>
          </a:p>
        </p:txBody>
      </p:sp>
    </p:spTree>
    <p:extLst>
      <p:ext uri="{BB962C8B-B14F-4D97-AF65-F5344CB8AC3E}">
        <p14:creationId xmlns:p14="http://schemas.microsoft.com/office/powerpoint/2010/main" val="915597707"/>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28834A6-1774-4E03-91FB-5A6B51BC888C}"/>
              </a:ext>
            </a:extLst>
          </p:cNvPr>
          <p:cNvSpPr>
            <a:spLocks xmlns:a="http://schemas.openxmlformats.org/drawingml/2006/main" noGrp="1"/>
          </p:cNvSpPr>
          <p:nvPr/>
        </p:nvSpPr>
        <p:spPr>
          <a:xfrm xmlns:a="http://schemas.openxmlformats.org/drawingml/2006/main">
            <a:off x="609600" y="4762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4D"/>
                </a:solidFill>
                <a:latin typeface="Arial"/>
                <a:ea typeface="Arial"/>
                <a:cs typeface="Arial"/>
              </a:defRPr>
            </a:defPPr>
          </a:lstStyle>
          <a:p xmlns:a="http://schemas.openxmlformats.org/drawingml/2006/main">
            <a:pPr>
              <a:defRPr sz="3300" b="1">
                <a:solidFill>
                  <a:srgbClr val="172B4D"/>
                </a:solidFill>
                <a:latin typeface="Arial"/>
                <a:ea typeface="Arial"/>
                <a:cs typeface="Arial"/>
              </a:defRPr>
            </a:pPr>
            <a:r>
              <a:rPr sz="3300" b="1">
                <a:solidFill>
                  <a:srgbClr val="172B4D"/>
                </a:solidFill>
                <a:latin typeface="Arial"/>
                <a:ea typeface="Arial"/>
                <a:cs typeface="Arial"/>
              </a:rPr>
              <a:t>Kết quả trên giao diện</a:t>
            </a:r>
          </a:p>
        </p:txBody>
      </p:sp>
      <p:sp>
        <p:nvSpPr>
          <p:cNvPr id="2" name="">
            <a:extLst xmlns:a="http://schemas.openxmlformats.org/drawingml/2006/main">
              <a:ext uri="{FF2B5EF4-FFF2-40B4-BE49-F238E27FC236}">
                <a16:creationId xmlns:a16="http://schemas.microsoft.com/office/drawing/2014/main" id="{712F48AD-49FE-4AB9-A786-A98774CA9927}"/>
              </a:ext>
            </a:extLst>
          </p:cNvPr>
          <p:cNvSpPr>
            <a:spLocks xmlns:a="http://schemas.openxmlformats.org/drawingml/2006/main" noGrp="1"/>
          </p:cNvSpPr>
          <p:nvPr/>
        </p:nvSpPr>
        <p:spPr>
          <a:xfrm xmlns:a="http://schemas.openxmlformats.org/drawingml/2006/main">
            <a:off x="11144250" y="6324600"/>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2536A"/>
                </a:solidFill>
                <a:latin typeface="Arial"/>
                <a:ea typeface="Arial"/>
                <a:cs typeface="Arial"/>
              </a:defRPr>
            </a:defPPr>
          </a:lstStyle>
          <a:p xmlns:a="http://schemas.openxmlformats.org/drawingml/2006/main">
            <a:pPr>
              <a:defRPr sz="1725" b="0">
                <a:solidFill>
                  <a:srgbClr val="42536A"/>
                </a:solidFill>
                <a:latin typeface="Arial"/>
                <a:ea typeface="Arial"/>
                <a:cs typeface="Arial"/>
              </a:defRPr>
            </a:pPr>
            <a:r>
              <a:rPr sz="1725" b="0">
                <a:solidFill>
                  <a:srgbClr val="42536A"/>
                </a:solidFill>
                <a:latin typeface="Arial"/>
                <a:ea typeface="Arial"/>
                <a:cs typeface="Arial"/>
              </a:rPr>
              <a:t>3</a:t>
            </a:r>
          </a:p>
        </p:txBody>
      </p:sp>
      <p:pic>
        <p:nvPicPr>
          <p:cNvPr id="3" name="">
            <a:extLst xmlns:a="http://schemas.openxmlformats.org/drawingml/2006/main">
              <a:ext uri="{FF2B5EF4-FFF2-40B4-BE49-F238E27FC236}">
                <a16:creationId xmlns:a16="http://schemas.microsoft.com/office/drawing/2014/main" id="{5C5D24E8-2BB1-42C7-BBA4-A58AEEEA2DDE}"/>
              </a:ext>
            </a:extLst>
          </p:cNvPr>
          <p:cNvPicPr>
            <a:picLocks xmlns:a="http://schemas.openxmlformats.org/drawingml/2006/main" noChangeAspect="1"/>
          </p:cNvPicPr>
          <p:nvPr/>
        </p:nvPicPr>
        <p:blipFill>
          <a:blip xmlns:r="http://schemas.openxmlformats.org/officeDocument/2006/relationships" xmlns:a="http://schemas.openxmlformats.org/drawingml/2006/main" r:embed="Rf0992ac6db72487d"/>
          <a:stretch xmlns:a="http://schemas.openxmlformats.org/drawingml/2006/main"/>
        </p:blipFill>
        <p:spPr>
          <a:xfrm xmlns:a="http://schemas.openxmlformats.org/drawingml/2006/main">
            <a:off x="2032000" y="1543050"/>
            <a:ext cx="8128000" cy="4572000"/>
          </a:xfrm>
          <a:prstGeom xmlns:a="http://schemas.openxmlformats.org/drawingml/2006/main" prst="rect">
            <a:avLst/>
          </a:prstGeom>
        </p:spPr>
      </p:pic>
    </p:spTree>
    <p:extLst>
      <p:ext uri="{BB962C8B-B14F-4D97-AF65-F5344CB8AC3E}">
        <p14:creationId xmlns:p14="http://schemas.microsoft.com/office/powerpoint/2010/main" val="93350621"/>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851900-8F8D-46FD-8112-04418E4EFB34}"/>
              </a:ext>
            </a:extLst>
          </p:cNvPr>
          <p:cNvSpPr>
            <a:spLocks xmlns:a="http://schemas.openxmlformats.org/drawingml/2006/main" noGrp="1"/>
          </p:cNvSpPr>
          <p:nvPr/>
        </p:nvSpPr>
        <p:spPr>
          <a:xfrm xmlns:a="http://schemas.openxmlformats.org/drawingml/2006/main">
            <a:off x="609600" y="4762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4D"/>
                </a:solidFill>
                <a:latin typeface="Arial"/>
                <a:ea typeface="Arial"/>
                <a:cs typeface="Arial"/>
              </a:defRPr>
            </a:defPPr>
          </a:lstStyle>
          <a:p xmlns:a="http://schemas.openxmlformats.org/drawingml/2006/main">
            <a:pPr>
              <a:defRPr sz="3300" b="1">
                <a:solidFill>
                  <a:srgbClr val="172B4D"/>
                </a:solidFill>
                <a:latin typeface="Arial"/>
                <a:ea typeface="Arial"/>
                <a:cs typeface="Arial"/>
              </a:defRPr>
            </a:pPr>
            <a:r>
              <a:rPr sz="3300" b="1">
                <a:solidFill>
                  <a:srgbClr val="172B4D"/>
                </a:solidFill>
                <a:latin typeface="Arial"/>
                <a:ea typeface="Arial"/>
                <a:cs typeface="Arial"/>
              </a:rPr>
              <a:t>Giải thích bằng kết quả đã tính</a:t>
            </a:r>
          </a:p>
        </p:txBody>
      </p:sp>
      <p:sp>
        <p:nvSpPr>
          <p:cNvPr id="2" name="">
            <a:extLst xmlns:a="http://schemas.openxmlformats.org/drawingml/2006/main">
              <a:ext uri="{FF2B5EF4-FFF2-40B4-BE49-F238E27FC236}">
                <a16:creationId xmlns:a16="http://schemas.microsoft.com/office/drawing/2014/main" id="{2025DA4A-E053-47FD-BB0D-B6C6FA39F9AC}"/>
              </a:ext>
            </a:extLst>
          </p:cNvPr>
          <p:cNvSpPr>
            <a:spLocks xmlns:a="http://schemas.openxmlformats.org/drawingml/2006/main" noGrp="1"/>
          </p:cNvSpPr>
          <p:nvPr/>
        </p:nvSpPr>
        <p:spPr>
          <a:xfrm xmlns:a="http://schemas.openxmlformats.org/drawingml/2006/main">
            <a:off x="11144250" y="6324600"/>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2536A"/>
                </a:solidFill>
                <a:latin typeface="Arial"/>
                <a:ea typeface="Arial"/>
                <a:cs typeface="Arial"/>
              </a:defRPr>
            </a:defPPr>
          </a:lstStyle>
          <a:p xmlns:a="http://schemas.openxmlformats.org/drawingml/2006/main">
            <a:pPr>
              <a:defRPr sz="1725" b="0">
                <a:solidFill>
                  <a:srgbClr val="42536A"/>
                </a:solidFill>
                <a:latin typeface="Arial"/>
                <a:ea typeface="Arial"/>
                <a:cs typeface="Arial"/>
              </a:defRPr>
            </a:pPr>
            <a:r>
              <a:rPr sz="1725" b="0">
                <a:solidFill>
                  <a:srgbClr val="42536A"/>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212D8BD2-EA84-49CE-8663-65D53EB99952}"/>
              </a:ext>
            </a:extLst>
          </p:cNvPr>
          <p:cNvSpPr>
            <a:spLocks xmlns:a="http://schemas.openxmlformats.org/drawingml/2006/main" noGrp="1"/>
          </p:cNvSpPr>
          <p:nvPr/>
        </p:nvSpPr>
        <p:spPr>
          <a:xfrm xmlns:a="http://schemas.openxmlformats.org/drawingml/2006/main">
            <a:off x="609600" y="17145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F8C"/>
                </a:solidFill>
                <a:latin typeface="Arial"/>
                <a:ea typeface="Arial"/>
                <a:cs typeface="Arial"/>
              </a:defRPr>
            </a:def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Điểm và ngưỡng</a:t>
            </a:r>
          </a:p>
        </p:txBody>
      </p:sp>
      <p:sp>
        <p:nvSpPr>
          <p:cNvPr id="4" name="">
            <a:extLst xmlns:a="http://schemas.openxmlformats.org/drawingml/2006/main">
              <a:ext uri="{FF2B5EF4-FFF2-40B4-BE49-F238E27FC236}">
                <a16:creationId xmlns:a16="http://schemas.microsoft.com/office/drawing/2014/main" id="{8DCF4090-9431-4353-B673-396ACF906D7B}"/>
              </a:ext>
            </a:extLst>
          </p:cNvPr>
          <p:cNvSpPr>
            <a:spLocks xmlns:a="http://schemas.openxmlformats.org/drawingml/2006/main" noGrp="1"/>
          </p:cNvSpPr>
          <p:nvPr/>
        </p:nvSpPr>
        <p:spPr>
          <a:xfrm xmlns:a="http://schemas.openxmlformats.org/drawingml/2006/main">
            <a:off x="609600" y="23431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B4D"/>
                </a:solidFill>
                <a:latin typeface="Arial"/>
                <a:ea typeface="Arial"/>
                <a:cs typeface="Arial"/>
              </a:defRPr>
            </a:defPPr>
          </a:lstStyle>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So sánh đúng phương pháp đã chọn; giữ ngưỡng đã kiểm chứng.</a:t>
            </a:r>
          </a:p>
        </p:txBody>
      </p:sp>
      <p:sp>
        <p:nvSpPr>
          <p:cNvPr id="5" name="">
            <a:extLst xmlns:a="http://schemas.openxmlformats.org/drawingml/2006/main">
              <a:ext uri="{FF2B5EF4-FFF2-40B4-BE49-F238E27FC236}">
                <a16:creationId xmlns:a16="http://schemas.microsoft.com/office/drawing/2014/main" id="{0A7B73B5-3126-4963-98EF-E48618DAC5B6}"/>
              </a:ext>
            </a:extLst>
          </p:cNvPr>
          <p:cNvSpPr>
            <a:spLocks xmlns:a="http://schemas.openxmlformats.org/drawingml/2006/main" noGrp="1"/>
          </p:cNvSpPr>
          <p:nvPr/>
        </p:nvSpPr>
        <p:spPr>
          <a:xfrm xmlns:a="http://schemas.openxmlformats.org/drawingml/2006/main">
            <a:off x="609600" y="32861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F8C"/>
                </a:solidFill>
                <a:latin typeface="Arial"/>
                <a:ea typeface="Arial"/>
                <a:cs typeface="Arial"/>
              </a:defRPr>
            </a:def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SHAP và nhóm đặc trưng</a:t>
            </a:r>
          </a:p>
        </p:txBody>
      </p:sp>
      <p:sp>
        <p:nvSpPr>
          <p:cNvPr id="6" name="">
            <a:extLst xmlns:a="http://schemas.openxmlformats.org/drawingml/2006/main">
              <a:ext uri="{FF2B5EF4-FFF2-40B4-BE49-F238E27FC236}">
                <a16:creationId xmlns:a16="http://schemas.microsoft.com/office/drawing/2014/main" id="{A3871265-4792-4298-AC27-C2127BFB9A2D}"/>
              </a:ext>
            </a:extLst>
          </p:cNvPr>
          <p:cNvSpPr>
            <a:spLocks xmlns:a="http://schemas.openxmlformats.org/drawingml/2006/main" noGrp="1"/>
          </p:cNvSpPr>
          <p:nvPr/>
        </p:nvSpPr>
        <p:spPr>
          <a:xfrm xmlns:a="http://schemas.openxmlformats.org/drawingml/2006/main">
            <a:off x="609600" y="39147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B4D"/>
                </a:solidFill>
                <a:latin typeface="Arial"/>
                <a:ea typeface="Arial"/>
                <a:cs typeface="Arial"/>
              </a:defRPr>
            </a:defPPr>
          </a:lstStyle>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Structural: cấu trúc PE. Behavioral: import/export.</a:t>
            </a:r>
          </a:p>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Metadata: byte, entropy và chuỗi trong file.</a:t>
            </a:r>
          </a:p>
        </p:txBody>
      </p:sp>
      <p:sp>
        <p:nvSpPr>
          <p:cNvPr id="7" name="">
            <a:extLst xmlns:a="http://schemas.openxmlformats.org/drawingml/2006/main">
              <a:ext uri="{FF2B5EF4-FFF2-40B4-BE49-F238E27FC236}">
                <a16:creationId xmlns:a16="http://schemas.microsoft.com/office/drawing/2014/main" id="{53E1BE7A-5E17-4603-A100-0DA8C42C4D1A}"/>
              </a:ext>
            </a:extLst>
          </p:cNvPr>
          <p:cNvSpPr>
            <a:spLocks xmlns:a="http://schemas.openxmlformats.org/drawingml/2006/main" noGrp="1"/>
          </p:cNvSpPr>
          <p:nvPr/>
        </p:nvSpPr>
        <p:spPr>
          <a:xfrm xmlns:a="http://schemas.openxmlformats.org/drawingml/2006/main">
            <a:off x="609600" y="53340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B4D"/>
                </a:solidFill>
                <a:latin typeface="Arial"/>
                <a:ea typeface="Arial"/>
                <a:cs typeface="Arial"/>
              </a:defRPr>
            </a:defPPr>
          </a:lstStyle>
          <a:p xmlns:a="http://schemas.openxmlformats.org/drawingml/2006/main">
            <a:pPr>
              <a:defRPr sz="2250" b="1">
                <a:solidFill>
                  <a:srgbClr val="172B4D"/>
                </a:solidFill>
                <a:latin typeface="Arial"/>
                <a:ea typeface="Arial"/>
                <a:cs typeface="Arial"/>
              </a:defRPr>
            </a:pPr>
            <a:r>
              <a:rPr sz="2250" b="1">
                <a:solidFill>
                  <a:srgbClr val="172B4D"/>
                </a:solidFill>
                <a:latin typeface="Arial"/>
                <a:ea typeface="Arial"/>
                <a:cs typeface="Arial"/>
              </a:rPr>
              <a:t>Mở chi tiết dùng lại kết quả; không chạy mô hình thêm.</a:t>
            </a:r>
          </a:p>
        </p:txBody>
      </p:sp>
    </p:spTree>
    <p:extLst>
      <p:ext uri="{BB962C8B-B14F-4D97-AF65-F5344CB8AC3E}">
        <p14:creationId xmlns:p14="http://schemas.microsoft.com/office/powerpoint/2010/main" val="1578369497"/>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CC930DB-092C-44C4-8C86-00996EC9BB18}"/>
              </a:ext>
            </a:extLst>
          </p:cNvPr>
          <p:cNvSpPr>
            <a:spLocks xmlns:a="http://schemas.openxmlformats.org/drawingml/2006/main" noGrp="1"/>
          </p:cNvSpPr>
          <p:nvPr/>
        </p:nvSpPr>
        <p:spPr>
          <a:xfrm xmlns:a="http://schemas.openxmlformats.org/drawingml/2006/main">
            <a:off x="609600" y="4762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4D"/>
                </a:solidFill>
                <a:latin typeface="Arial"/>
                <a:ea typeface="Arial"/>
                <a:cs typeface="Arial"/>
              </a:defRPr>
            </a:defPPr>
          </a:lstStyle>
          <a:p xmlns:a="http://schemas.openxmlformats.org/drawingml/2006/main">
            <a:pPr>
              <a:defRPr sz="3300" b="1">
                <a:solidFill>
                  <a:srgbClr val="172B4D"/>
                </a:solidFill>
                <a:latin typeface="Arial"/>
                <a:ea typeface="Arial"/>
                <a:cs typeface="Arial"/>
              </a:defRPr>
            </a:pPr>
            <a:r>
              <a:rPr sz="3300" b="1">
                <a:solidFill>
                  <a:srgbClr val="172B4D"/>
                </a:solidFill>
                <a:latin typeface="Arial"/>
                <a:ea typeface="Arial"/>
                <a:cs typeface="Arial"/>
              </a:rPr>
              <a:t>Thời gian tính điểm trước và sau</a:t>
            </a:r>
          </a:p>
        </p:txBody>
      </p:sp>
      <p:sp>
        <p:nvSpPr>
          <p:cNvPr id="2" name="">
            <a:extLst xmlns:a="http://schemas.openxmlformats.org/drawingml/2006/main">
              <a:ext uri="{FF2B5EF4-FFF2-40B4-BE49-F238E27FC236}">
                <a16:creationId xmlns:a16="http://schemas.microsoft.com/office/drawing/2014/main" id="{555403D6-CB6B-41FE-A620-6E453AC57174}"/>
              </a:ext>
            </a:extLst>
          </p:cNvPr>
          <p:cNvSpPr>
            <a:spLocks xmlns:a="http://schemas.openxmlformats.org/drawingml/2006/main" noGrp="1"/>
          </p:cNvSpPr>
          <p:nvPr/>
        </p:nvSpPr>
        <p:spPr>
          <a:xfrm xmlns:a="http://schemas.openxmlformats.org/drawingml/2006/main">
            <a:off x="11144250" y="6324600"/>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2536A"/>
                </a:solidFill>
                <a:latin typeface="Arial"/>
                <a:ea typeface="Arial"/>
                <a:cs typeface="Arial"/>
              </a:defRPr>
            </a:defPPr>
          </a:lstStyle>
          <a:p xmlns:a="http://schemas.openxmlformats.org/drawingml/2006/main">
            <a:pPr>
              <a:defRPr sz="1725" b="0">
                <a:solidFill>
                  <a:srgbClr val="42536A"/>
                </a:solidFill>
                <a:latin typeface="Arial"/>
                <a:ea typeface="Arial"/>
                <a:cs typeface="Arial"/>
              </a:defRPr>
            </a:pPr>
            <a:r>
              <a:rPr sz="1725" b="0">
                <a:solidFill>
                  <a:srgbClr val="42536A"/>
                </a:solidFill>
                <a:latin typeface="Arial"/>
                <a:ea typeface="Arial"/>
                <a:cs typeface="Arial"/>
              </a:rPr>
              <a:t>5</a:t>
            </a:r>
          </a:p>
        </p:txBody>
      </p:sp>
      <p:graphicFrame>
        <p:nvGraphicFramePr>
          <p:cNvPr id="3" name="">
            <a:extLst xmlns:a="http://schemas.openxmlformats.org/drawingml/2006/main">
              <a:ext uri="{FF2B5EF4-FFF2-40B4-BE49-F238E27FC236}">
                <a16:creationId xmlns:a16="http://schemas.microsoft.com/office/drawing/2014/main" id="{46839EDB-0519-4C3C-A799-132B68E72F9F}"/>
              </a:ext>
            </a:extLst>
          </p:cNvPr>
          <p:cNvGraphicFramePr/>
          <p:nvPr/>
        </p:nvGraphicFramePr>
        <p:xfrm>
          <a:off xmlns:a="http://schemas.openxmlformats.org/drawingml/2006/main" x="609600" y="1619250"/>
          <a:ext xmlns:a="http://schemas.openxmlformats.org/drawingml/2006/main" cx="10972800" cy="3000375"/>
        </p:xfrm>
        <a:graphic xmlns:a="http://schemas.openxmlformats.org/drawingml/2006/main">
          <a:graphicData uri="http://schemas.openxmlformats.org/drawingml/2006/table">
            <a:tbl>
              <a:tblPr/>
              <a:tblGrid>
                <a:gridCol w="6019800"/>
                <a:gridCol w="2476500"/>
                <a:gridCol w="2476500"/>
              </a:tblGrid>
              <a:tr h="600075">
                <a:tc>
                  <a:txBody>
                    <a:bodyPr/>
                    <a:lstStyle/>
                    <a:p>
                      <a:r>
                        <a:rPr sz="2025" b="1">
                          <a:solidFill>
                            <a:srgbClr val="FFFFFF"/>
                          </a:solidFill>
                          <a:latin typeface="Arial"/>
                          <a:ea typeface="Arial"/>
                          <a:cs typeface="Arial"/>
                        </a:rPr>
                        <a:t>Cấu hình</a:t>
                      </a:r>
                    </a:p>
                  </a:txBody>
                  <a:tcPr marL="91440" marR="91440" marT="45720" marB="45720">
                    <a:lnL w="9525">
                      <a:solidFill>
                        <a:srgbClr val="CBD5E1"/>
                      </a:solidFill>
                    </a:lnL>
                    <a:lnR w="9525">
                      <a:solidFill>
                        <a:srgbClr val="CBD5E1"/>
                      </a:solidFill>
                    </a:lnR>
                    <a:lnT w="9525">
                      <a:solidFill>
                        <a:srgbClr val="CBD5E1"/>
                      </a:solidFill>
                    </a:lnT>
                    <a:lnB w="9525">
                      <a:solidFill>
                        <a:srgbClr val="CBD5E1"/>
                      </a:solidFill>
                    </a:lnB>
                    <a:solidFill>
                      <a:srgbClr val="087F8C"/>
                    </a:solidFill>
                  </a:tcPr>
                </a:tc>
                <a:tc>
                  <a:txBody>
                    <a:bodyPr/>
                    <a:lstStyle/>
                    <a:p>
                      <a:r>
                        <a:rPr sz="2025" b="1">
                          <a:solidFill>
                            <a:srgbClr val="FFFFFF"/>
                          </a:solidFill>
                          <a:latin typeface="Arial"/>
                          <a:ea typeface="Arial"/>
                          <a:cs typeface="Arial"/>
                        </a:rPr>
                        <a:t>Trước (ms)</a:t>
                      </a:r>
                    </a:p>
                  </a:txBody>
                  <a:tcPr marL="91440" marR="91440" marT="45720" marB="45720">
                    <a:lnR w="9525">
                      <a:solidFill>
                        <a:srgbClr val="CBD5E1"/>
                      </a:solidFill>
                    </a:lnR>
                    <a:lnT w="9525">
                      <a:solidFill>
                        <a:srgbClr val="CBD5E1"/>
                      </a:solidFill>
                    </a:lnT>
                    <a:lnB w="9525">
                      <a:solidFill>
                        <a:srgbClr val="CBD5E1"/>
                      </a:solidFill>
                    </a:lnB>
                    <a:solidFill>
                      <a:srgbClr val="087F8C"/>
                    </a:solidFill>
                  </a:tcPr>
                </a:tc>
                <a:tc>
                  <a:txBody>
                    <a:bodyPr/>
                    <a:lstStyle/>
                    <a:p>
                      <a:r>
                        <a:rPr sz="2025" b="1">
                          <a:solidFill>
                            <a:srgbClr val="FFFFFF"/>
                          </a:solidFill>
                          <a:latin typeface="Arial"/>
                          <a:ea typeface="Arial"/>
                          <a:cs typeface="Arial"/>
                        </a:rPr>
                        <a:t>Sau (ms)</a:t>
                      </a:r>
                    </a:p>
                  </a:txBody>
                  <a:tcPr marL="91440" marR="91440" marT="45720" marB="45720">
                    <a:lnR w="9525">
                      <a:solidFill>
                        <a:srgbClr val="CBD5E1"/>
                      </a:solidFill>
                    </a:lnR>
                    <a:lnT w="9525">
                      <a:solidFill>
                        <a:srgbClr val="CBD5E1"/>
                      </a:solidFill>
                    </a:lnT>
                    <a:lnB w="9525">
                      <a:solidFill>
                        <a:srgbClr val="CBD5E1"/>
                      </a:solidFill>
                    </a:lnB>
                    <a:solidFill>
                      <a:srgbClr val="087F8C"/>
                    </a:solidFill>
                  </a:tcPr>
                </a:tc>
              </a:tr>
              <a:tr h="600075">
                <a:tc>
                  <a:txBody>
                    <a:bodyPr/>
                    <a:lstStyle/>
                    <a:p>
                      <a:r>
                        <a:rPr sz="2025" b="0">
                          <a:solidFill>
                            <a:srgbClr val="172B4D"/>
                          </a:solidFill>
                          <a:latin typeface="Arial"/>
                          <a:ea typeface="Arial"/>
                          <a:cs typeface="Arial"/>
                        </a:rPr>
                        <a:t>EMBER2018 / reduced</a:t>
                      </a:r>
                    </a:p>
                  </a:txBody>
                  <a:tcPr marL="91440" marR="91440" marT="45720" marB="45720">
                    <a:lnL w="9525">
                      <a:solidFill>
                        <a:srgbClr val="CBD5E1"/>
                      </a:solidFill>
                    </a:lnL>
                    <a:lnR w="9525">
                      <a:solidFill>
                        <a:srgbClr val="CBD5E1"/>
                      </a:solidFill>
                    </a:lnR>
                    <a:lnB w="9525">
                      <a:solidFill>
                        <a:srgbClr val="CBD5E1"/>
                      </a:solidFill>
                    </a:lnB>
                    <a:solidFill>
                      <a:srgbClr val="FFFFFF"/>
                    </a:solidFill>
                  </a:tcPr>
                </a:tc>
                <a:tc>
                  <a:txBody>
                    <a:bodyPr/>
                    <a:lstStyle/>
                    <a:p>
                      <a:r>
                        <a:rPr sz="2025" b="0">
                          <a:solidFill>
                            <a:srgbClr val="172B4D"/>
                          </a:solidFill>
                          <a:latin typeface="Arial"/>
                          <a:ea typeface="Arial"/>
                          <a:cs typeface="Arial"/>
                        </a:rPr>
                        <a:t>21.19</a:t>
                      </a:r>
                    </a:p>
                  </a:txBody>
                  <a:tcPr marL="91440" marR="91440" marT="45720" marB="45720">
                    <a:lnR w="9525">
                      <a:solidFill>
                        <a:srgbClr val="CBD5E1"/>
                      </a:solidFill>
                    </a:lnR>
                    <a:lnB w="9525">
                      <a:solidFill>
                        <a:srgbClr val="CBD5E1"/>
                      </a:solidFill>
                    </a:lnB>
                    <a:solidFill>
                      <a:srgbClr val="FFFFFF"/>
                    </a:solidFill>
                  </a:tcPr>
                </a:tc>
                <a:tc>
                  <a:txBody>
                    <a:bodyPr/>
                    <a:lstStyle/>
                    <a:p>
                      <a:r>
                        <a:rPr sz="2025" b="0">
                          <a:solidFill>
                            <a:srgbClr val="172B4D"/>
                          </a:solidFill>
                          <a:latin typeface="Arial"/>
                          <a:ea typeface="Arial"/>
                          <a:cs typeface="Arial"/>
                        </a:rPr>
                        <a:t>20.46</a:t>
                      </a:r>
                    </a:p>
                  </a:txBody>
                  <a:tcPr marL="91440" marR="91440" marT="45720" marB="45720">
                    <a:lnR w="9525">
                      <a:solidFill>
                        <a:srgbClr val="CBD5E1"/>
                      </a:solidFill>
                    </a:lnR>
                    <a:lnB w="9525">
                      <a:solidFill>
                        <a:srgbClr val="CBD5E1"/>
                      </a:solidFill>
                    </a:lnB>
                    <a:solidFill>
                      <a:srgbClr val="FFFFFF"/>
                    </a:solidFill>
                  </a:tcPr>
                </a:tc>
              </a:tr>
              <a:tr h="600075">
                <a:tc>
                  <a:txBody>
                    <a:bodyPr/>
                    <a:lstStyle/>
                    <a:p>
                      <a:r>
                        <a:rPr sz="2025" b="0">
                          <a:solidFill>
                            <a:srgbClr val="172B4D"/>
                          </a:solidFill>
                          <a:latin typeface="Arial"/>
                          <a:ea typeface="Arial"/>
                          <a:cs typeface="Arial"/>
                        </a:rPr>
                        <a:t>EMBER2018 / full</a:t>
                      </a:r>
                    </a:p>
                  </a:txBody>
                  <a:tcPr marL="91440" marR="91440" marT="45720" marB="45720">
                    <a:lnL w="9525">
                      <a:solidFill>
                        <a:srgbClr val="CBD5E1"/>
                      </a:solidFill>
                    </a:lnL>
                    <a:lnR w="9525">
                      <a:solidFill>
                        <a:srgbClr val="CBD5E1"/>
                      </a:solidFill>
                    </a:lnR>
                    <a:lnB w="9525">
                      <a:solidFill>
                        <a:srgbClr val="CBD5E1"/>
                      </a:solidFill>
                    </a:lnB>
                    <a:solidFill>
                      <a:srgbClr val="FFFFFF"/>
                    </a:solidFill>
                  </a:tcPr>
                </a:tc>
                <a:tc>
                  <a:txBody>
                    <a:bodyPr/>
                    <a:lstStyle/>
                    <a:p>
                      <a:r>
                        <a:rPr sz="2025" b="0">
                          <a:solidFill>
                            <a:srgbClr val="172B4D"/>
                          </a:solidFill>
                          <a:latin typeface="Arial"/>
                          <a:ea typeface="Arial"/>
                          <a:cs typeface="Arial"/>
                        </a:rPr>
                        <a:t>22.57</a:t>
                      </a:r>
                    </a:p>
                  </a:txBody>
                  <a:tcPr marL="91440" marR="91440" marT="45720" marB="45720">
                    <a:lnR w="9525">
                      <a:solidFill>
                        <a:srgbClr val="CBD5E1"/>
                      </a:solidFill>
                    </a:lnR>
                    <a:lnB w="9525">
                      <a:solidFill>
                        <a:srgbClr val="CBD5E1"/>
                      </a:solidFill>
                    </a:lnB>
                    <a:solidFill>
                      <a:srgbClr val="FFFFFF"/>
                    </a:solidFill>
                  </a:tcPr>
                </a:tc>
                <a:tc>
                  <a:txBody>
                    <a:bodyPr/>
                    <a:lstStyle/>
                    <a:p>
                      <a:r>
                        <a:rPr sz="2025" b="0">
                          <a:solidFill>
                            <a:srgbClr val="172B4D"/>
                          </a:solidFill>
                          <a:latin typeface="Arial"/>
                          <a:ea typeface="Arial"/>
                          <a:cs typeface="Arial"/>
                        </a:rPr>
                        <a:t>20.82</a:t>
                      </a:r>
                    </a:p>
                  </a:txBody>
                  <a:tcPr marL="91440" marR="91440" marT="45720" marB="45720">
                    <a:lnR w="9525">
                      <a:solidFill>
                        <a:srgbClr val="CBD5E1"/>
                      </a:solidFill>
                    </a:lnR>
                    <a:lnB w="9525">
                      <a:solidFill>
                        <a:srgbClr val="CBD5E1"/>
                      </a:solidFill>
                    </a:lnB>
                    <a:solidFill>
                      <a:srgbClr val="FFFFFF"/>
                    </a:solidFill>
                  </a:tcPr>
                </a:tc>
              </a:tr>
              <a:tr h="600075">
                <a:tc>
                  <a:txBody>
                    <a:bodyPr/>
                    <a:lstStyle/>
                    <a:p>
                      <a:r>
                        <a:rPr sz="2025" b="0">
                          <a:solidFill>
                            <a:srgbClr val="172B4D"/>
                          </a:solidFill>
                          <a:latin typeface="Arial"/>
                          <a:ea typeface="Arial"/>
                          <a:cs typeface="Arial"/>
                        </a:rPr>
                        <a:t>EMBER2024 / reduced</a:t>
                      </a:r>
                    </a:p>
                  </a:txBody>
                  <a:tcPr marL="91440" marR="91440" marT="45720" marB="45720">
                    <a:lnL w="9525">
                      <a:solidFill>
                        <a:srgbClr val="CBD5E1"/>
                      </a:solidFill>
                    </a:lnL>
                    <a:lnR w="9525">
                      <a:solidFill>
                        <a:srgbClr val="CBD5E1"/>
                      </a:solidFill>
                    </a:lnR>
                    <a:lnB w="9525">
                      <a:solidFill>
                        <a:srgbClr val="CBD5E1"/>
                      </a:solidFill>
                    </a:lnB>
                    <a:solidFill>
                      <a:srgbClr val="FFFFFF"/>
                    </a:solidFill>
                  </a:tcPr>
                </a:tc>
                <a:tc>
                  <a:txBody>
                    <a:bodyPr/>
                    <a:lstStyle/>
                    <a:p>
                      <a:r>
                        <a:rPr sz="2025" b="0">
                          <a:solidFill>
                            <a:srgbClr val="172B4D"/>
                          </a:solidFill>
                          <a:latin typeface="Arial"/>
                          <a:ea typeface="Arial"/>
                          <a:cs typeface="Arial"/>
                        </a:rPr>
                        <a:t>19.51</a:t>
                      </a:r>
                    </a:p>
                  </a:txBody>
                  <a:tcPr marL="91440" marR="91440" marT="45720" marB="45720">
                    <a:lnR w="9525">
                      <a:solidFill>
                        <a:srgbClr val="CBD5E1"/>
                      </a:solidFill>
                    </a:lnR>
                    <a:lnB w="9525">
                      <a:solidFill>
                        <a:srgbClr val="CBD5E1"/>
                      </a:solidFill>
                    </a:lnB>
                    <a:solidFill>
                      <a:srgbClr val="FFFFFF"/>
                    </a:solidFill>
                  </a:tcPr>
                </a:tc>
                <a:tc>
                  <a:txBody>
                    <a:bodyPr/>
                    <a:lstStyle/>
                    <a:p>
                      <a:r>
                        <a:rPr sz="2025" b="0">
                          <a:solidFill>
                            <a:srgbClr val="172B4D"/>
                          </a:solidFill>
                          <a:latin typeface="Arial"/>
                          <a:ea typeface="Arial"/>
                          <a:cs typeface="Arial"/>
                        </a:rPr>
                        <a:t>19.64</a:t>
                      </a:r>
                    </a:p>
                  </a:txBody>
                  <a:tcPr marL="91440" marR="91440" marT="45720" marB="45720">
                    <a:lnR w="9525">
                      <a:solidFill>
                        <a:srgbClr val="CBD5E1"/>
                      </a:solidFill>
                    </a:lnR>
                    <a:lnB w="9525">
                      <a:solidFill>
                        <a:srgbClr val="CBD5E1"/>
                      </a:solidFill>
                    </a:lnB>
                    <a:solidFill>
                      <a:srgbClr val="FFFFFF"/>
                    </a:solidFill>
                  </a:tcPr>
                </a:tc>
              </a:tr>
              <a:tr h="600075">
                <a:tc>
                  <a:txBody>
                    <a:bodyPr/>
                    <a:lstStyle/>
                    <a:p>
                      <a:r>
                        <a:rPr sz="2025" b="0">
                          <a:solidFill>
                            <a:srgbClr val="172B4D"/>
                          </a:solidFill>
                          <a:latin typeface="Arial"/>
                          <a:ea typeface="Arial"/>
                          <a:cs typeface="Arial"/>
                        </a:rPr>
                        <a:t>EMBER2024 / full</a:t>
                      </a:r>
                    </a:p>
                  </a:txBody>
                  <a:tcPr marL="91440" marR="91440" marT="45720" marB="45720">
                    <a:lnL w="9525">
                      <a:solidFill>
                        <a:srgbClr val="CBD5E1"/>
                      </a:solidFill>
                    </a:lnL>
                    <a:lnR w="9525">
                      <a:solidFill>
                        <a:srgbClr val="CBD5E1"/>
                      </a:solidFill>
                    </a:lnR>
                    <a:lnB w="9525">
                      <a:solidFill>
                        <a:srgbClr val="CBD5E1"/>
                      </a:solidFill>
                    </a:lnB>
                    <a:solidFill>
                      <a:srgbClr val="FFFFFF"/>
                    </a:solidFill>
                  </a:tcPr>
                </a:tc>
                <a:tc>
                  <a:txBody>
                    <a:bodyPr/>
                    <a:lstStyle/>
                    <a:p>
                      <a:r>
                        <a:rPr sz="2025" b="0">
                          <a:solidFill>
                            <a:srgbClr val="172B4D"/>
                          </a:solidFill>
                          <a:latin typeface="Arial"/>
                          <a:ea typeface="Arial"/>
                          <a:cs typeface="Arial"/>
                        </a:rPr>
                        <a:t>19.28</a:t>
                      </a:r>
                    </a:p>
                  </a:txBody>
                  <a:tcPr marL="91440" marR="91440" marT="45720" marB="45720">
                    <a:lnR w="9525">
                      <a:solidFill>
                        <a:srgbClr val="CBD5E1"/>
                      </a:solidFill>
                    </a:lnR>
                    <a:lnB w="9525">
                      <a:solidFill>
                        <a:srgbClr val="CBD5E1"/>
                      </a:solidFill>
                    </a:lnB>
                    <a:solidFill>
                      <a:srgbClr val="FFFFFF"/>
                    </a:solidFill>
                  </a:tcPr>
                </a:tc>
                <a:tc>
                  <a:txBody>
                    <a:bodyPr/>
                    <a:lstStyle/>
                    <a:p>
                      <a:r>
                        <a:rPr sz="2025" b="0">
                          <a:solidFill>
                            <a:srgbClr val="172B4D"/>
                          </a:solidFill>
                          <a:latin typeface="Arial"/>
                          <a:ea typeface="Arial"/>
                          <a:cs typeface="Arial"/>
                        </a:rPr>
                        <a:t>27.28</a:t>
                      </a:r>
                    </a:p>
                  </a:txBody>
                  <a:tcPr marL="91440" marR="91440" marT="45720" marB="45720">
                    <a:lnR w="9525">
                      <a:solidFill>
                        <a:srgbClr val="CBD5E1"/>
                      </a:solidFill>
                    </a:lnR>
                    <a:lnB w="9525">
                      <a:solidFill>
                        <a:srgbClr val="CBD5E1"/>
                      </a:solidFill>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B4E7583-437D-412F-B657-39BD813ECFF3}"/>
              </a:ext>
            </a:extLst>
          </p:cNvPr>
          <p:cNvSpPr>
            <a:spLocks xmlns:a="http://schemas.openxmlformats.org/drawingml/2006/main" noGrp="1"/>
          </p:cNvSpPr>
          <p:nvPr/>
        </p:nvSpPr>
        <p:spPr>
          <a:xfrm xmlns:a="http://schemas.openxmlformats.org/drawingml/2006/main">
            <a:off x="609600" y="495300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2536A"/>
                </a:solidFill>
                <a:latin typeface="Arial"/>
                <a:ea typeface="Arial"/>
                <a:cs typeface="Arial"/>
              </a:defRPr>
            </a:defPPr>
          </a:lstStyle>
          <a:p xmlns:a="http://schemas.openxmlformats.org/drawingml/2006/main">
            <a:pPr>
              <a:defRPr sz="2025" b="0">
                <a:solidFill>
                  <a:srgbClr val="42536A"/>
                </a:solidFill>
                <a:latin typeface="Arial"/>
                <a:ea typeface="Arial"/>
                <a:cs typeface="Arial"/>
              </a:defRPr>
            </a:pPr>
            <a:r>
              <a:rPr sz="2025" b="0">
                <a:solidFill>
                  <a:srgbClr val="42536A"/>
                </a:solidFill>
                <a:latin typeface="Arial"/>
                <a:ea typeface="Arial"/>
                <a:cs typeface="Arial"/>
              </a:rPr>
              <a:t>44 đầu vào kiểm tra. Không gồm upload và hiển thị trình duyệt.</a:t>
            </a:r>
          </a:p>
        </p:txBody>
      </p:sp>
      <p:sp>
        <p:nvSpPr>
          <p:cNvPr id="5" name="">
            <a:extLst xmlns:a="http://schemas.openxmlformats.org/drawingml/2006/main">
              <a:ext uri="{FF2B5EF4-FFF2-40B4-BE49-F238E27FC236}">
                <a16:creationId xmlns:a16="http://schemas.microsoft.com/office/drawing/2014/main" id="{F070D1D3-DE0B-4C4E-90C7-66A76009726F}"/>
              </a:ext>
            </a:extLst>
          </p:cNvPr>
          <p:cNvSpPr>
            <a:spLocks xmlns:a="http://schemas.openxmlformats.org/drawingml/2006/main" noGrp="1"/>
          </p:cNvSpPr>
          <p:nvPr/>
        </p:nvSpPr>
        <p:spPr>
          <a:xfrm xmlns:a="http://schemas.openxmlformats.org/drawingml/2006/main">
            <a:off x="609600" y="57150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B4D"/>
                </a:solidFill>
                <a:latin typeface="Arial"/>
                <a:ea typeface="Arial"/>
                <a:cs typeface="Arial"/>
              </a:defRPr>
            </a:defPPr>
          </a:lstStyle>
          <a:p xmlns:a="http://schemas.openxmlformats.org/drawingml/2006/main">
            <a:pPr>
              <a:defRPr sz="2250" b="1">
                <a:solidFill>
                  <a:srgbClr val="172B4D"/>
                </a:solidFill>
                <a:latin typeface="Arial"/>
                <a:ea typeface="Arial"/>
                <a:cs typeface="Arial"/>
              </a:defRPr>
            </a:pPr>
            <a:r>
              <a:rPr sz="2250" b="1">
                <a:solidFill>
                  <a:srgbClr val="172B4D"/>
                </a:solidFill>
                <a:latin typeface="Arial"/>
                <a:ea typeface="Arial"/>
                <a:cs typeface="Arial"/>
              </a:rPr>
              <a:t>Mục tiêu nghiên cứu 10 ms vẫn chưa đạt.</a:t>
            </a:r>
          </a:p>
        </p:txBody>
      </p:sp>
    </p:spTree>
    <p:extLst>
      <p:ext uri="{BB962C8B-B14F-4D97-AF65-F5344CB8AC3E}">
        <p14:creationId xmlns:p14="http://schemas.microsoft.com/office/powerpoint/2010/main" val="230981548"/>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E1AE1F-75BF-4446-9EAA-811A66222969}"/>
              </a:ext>
            </a:extLst>
          </p:cNvPr>
          <p:cNvSpPr>
            <a:spLocks xmlns:a="http://schemas.openxmlformats.org/drawingml/2006/main" noGrp="1"/>
          </p:cNvSpPr>
          <p:nvPr/>
        </p:nvSpPr>
        <p:spPr>
          <a:xfrm xmlns:a="http://schemas.openxmlformats.org/drawingml/2006/main">
            <a:off x="609600" y="4762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4D"/>
                </a:solidFill>
                <a:latin typeface="Arial"/>
                <a:ea typeface="Arial"/>
                <a:cs typeface="Arial"/>
              </a:defRPr>
            </a:defPPr>
          </a:lstStyle>
          <a:p xmlns:a="http://schemas.openxmlformats.org/drawingml/2006/main">
            <a:pPr>
              <a:defRPr sz="3300" b="1">
                <a:solidFill>
                  <a:srgbClr val="172B4D"/>
                </a:solidFill>
                <a:latin typeface="Arial"/>
                <a:ea typeface="Arial"/>
                <a:cs typeface="Arial"/>
              </a:defRPr>
            </a:pPr>
            <a:r>
              <a:rPr sz="3300" b="1">
                <a:solidFill>
                  <a:srgbClr val="172B4D"/>
                </a:solidFill>
                <a:latin typeface="Arial"/>
                <a:ea typeface="Arial"/>
                <a:cs typeface="Arial"/>
              </a:rPr>
              <a:t>Lịch sử và phục hồi dữ liệu</a:t>
            </a:r>
          </a:p>
        </p:txBody>
      </p:sp>
      <p:sp>
        <p:nvSpPr>
          <p:cNvPr id="2" name="">
            <a:extLst xmlns:a="http://schemas.openxmlformats.org/drawingml/2006/main">
              <a:ext uri="{FF2B5EF4-FFF2-40B4-BE49-F238E27FC236}">
                <a16:creationId xmlns:a16="http://schemas.microsoft.com/office/drawing/2014/main" id="{5D3F17C4-FB92-4DAC-B989-8C3B851FD140}"/>
              </a:ext>
            </a:extLst>
          </p:cNvPr>
          <p:cNvSpPr>
            <a:spLocks xmlns:a="http://schemas.openxmlformats.org/drawingml/2006/main" noGrp="1"/>
          </p:cNvSpPr>
          <p:nvPr/>
        </p:nvSpPr>
        <p:spPr>
          <a:xfrm xmlns:a="http://schemas.openxmlformats.org/drawingml/2006/main">
            <a:off x="11144250" y="6324600"/>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2536A"/>
                </a:solidFill>
                <a:latin typeface="Arial"/>
                <a:ea typeface="Arial"/>
                <a:cs typeface="Arial"/>
              </a:defRPr>
            </a:defPPr>
          </a:lstStyle>
          <a:p xmlns:a="http://schemas.openxmlformats.org/drawingml/2006/main">
            <a:pPr>
              <a:defRPr sz="1725" b="0">
                <a:solidFill>
                  <a:srgbClr val="42536A"/>
                </a:solidFill>
                <a:latin typeface="Arial"/>
                <a:ea typeface="Arial"/>
                <a:cs typeface="Arial"/>
              </a:defRPr>
            </a:pPr>
            <a:r>
              <a:rPr sz="1725" b="0">
                <a:solidFill>
                  <a:srgbClr val="42536A"/>
                </a:solidFill>
                <a:latin typeface="Arial"/>
                <a:ea typeface="Arial"/>
                <a:cs typeface="Arial"/>
              </a:rPr>
              <a:t>6</a:t>
            </a:r>
          </a:p>
        </p:txBody>
      </p:sp>
      <p:pic>
        <p:nvPicPr>
          <p:cNvPr id="3" name="">
            <a:extLst xmlns:a="http://schemas.openxmlformats.org/drawingml/2006/main">
              <a:ext uri="{FF2B5EF4-FFF2-40B4-BE49-F238E27FC236}">
                <a16:creationId xmlns:a16="http://schemas.microsoft.com/office/drawing/2014/main" id="{EA21F2AF-DB2B-486E-8C64-58BC41F68B45}"/>
              </a:ext>
            </a:extLst>
          </p:cNvPr>
          <p:cNvPicPr>
            <a:picLocks xmlns:a="http://schemas.openxmlformats.org/drawingml/2006/main" noChangeAspect="1"/>
          </p:cNvPicPr>
          <p:nvPr/>
        </p:nvPicPr>
        <p:blipFill>
          <a:blip xmlns:r="http://schemas.openxmlformats.org/officeDocument/2006/relationships" xmlns:a="http://schemas.openxmlformats.org/drawingml/2006/main" r:embed="R60102e89e0da4172"/>
          <a:stretch xmlns:a="http://schemas.openxmlformats.org/drawingml/2006/main"/>
        </p:blipFill>
        <p:spPr>
          <a:xfrm xmlns:a="http://schemas.openxmlformats.org/drawingml/2006/main">
            <a:off x="1064683" y="1476375"/>
            <a:ext cx="7281333" cy="4095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887E0CF-2272-4EA1-AD86-2BE5E193A90D}"/>
              </a:ext>
            </a:extLst>
          </p:cNvPr>
          <p:cNvSpPr>
            <a:spLocks xmlns:a="http://schemas.openxmlformats.org/drawingml/2006/main" noGrp="1"/>
          </p:cNvSpPr>
          <p:nvPr/>
        </p:nvSpPr>
        <p:spPr>
          <a:xfrm xmlns:a="http://schemas.openxmlformats.org/drawingml/2006/main">
            <a:off x="9048750" y="1857375"/>
            <a:ext cx="25336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2536A"/>
                </a:solidFill>
                <a:latin typeface="Arial"/>
                <a:ea typeface="Arial"/>
                <a:cs typeface="Arial"/>
              </a:defRPr>
            </a:defPPr>
          </a:lstStyle>
          <a:p xmlns:a="http://schemas.openxmlformats.org/drawingml/2006/main">
            <a:pPr>
              <a:defRPr sz="2100" b="0">
                <a:solidFill>
                  <a:srgbClr val="42536A"/>
                </a:solidFill>
                <a:latin typeface="Arial"/>
                <a:ea typeface="Arial"/>
                <a:cs typeface="Arial"/>
              </a:defRPr>
            </a:pPr>
            <a:r>
              <a:rPr sz="2100" b="0">
                <a:solidFill>
                  <a:srgbClr val="42536A"/>
                </a:solidFill>
                <a:latin typeface="Arial"/>
                <a:ea typeface="Arial"/>
                <a:cs typeface="Arial"/>
              </a:rPr>
              <a:t>Tên file</a:t>
            </a:r>
          </a:p>
          <a:p xmlns:a="http://schemas.openxmlformats.org/drawingml/2006/main">
            <a:pPr>
              <a:defRPr sz="2100" b="0">
                <a:solidFill>
                  <a:srgbClr val="42536A"/>
                </a:solidFill>
                <a:latin typeface="Arial"/>
                <a:ea typeface="Arial"/>
                <a:cs typeface="Arial"/>
              </a:defRPr>
            </a:pPr>
            <a:r>
              <a:rPr sz="2100" b="0">
                <a:solidFill>
                  <a:srgbClr val="42536A"/>
                </a:solidFill>
                <a:latin typeface="Arial"/>
                <a:ea typeface="Arial"/>
                <a:cs typeface="Arial"/>
              </a:rPr>
              <a:t>Dung lượng</a:t>
            </a:r>
          </a:p>
          <a:p xmlns:a="http://schemas.openxmlformats.org/drawingml/2006/main">
            <a:pPr>
              <a:defRPr sz="2100" b="0">
                <a:solidFill>
                  <a:srgbClr val="42536A"/>
                </a:solidFill>
                <a:latin typeface="Arial"/>
                <a:ea typeface="Arial"/>
                <a:cs typeface="Arial"/>
              </a:defRPr>
            </a:pPr>
            <a:r>
              <a:rPr sz="2100" b="0">
                <a:solidFill>
                  <a:srgbClr val="42536A"/>
                </a:solidFill>
                <a:latin typeface="Arial"/>
                <a:ea typeface="Arial"/>
                <a:cs typeface="Arial"/>
              </a:rPr>
              <a:t>Loại đầu vào</a:t>
            </a:r>
          </a:p>
          <a:p xmlns:a="http://schemas.openxmlformats.org/drawingml/2006/main">
            <a:pPr>
              <a:defRPr sz="2100" b="0">
                <a:solidFill>
                  <a:srgbClr val="42536A"/>
                </a:solidFill>
                <a:latin typeface="Arial"/>
                <a:ea typeface="Arial"/>
                <a:cs typeface="Arial"/>
              </a:defRPr>
            </a:pPr>
            <a:r>
              <a:rPr sz="2100" b="0">
                <a:solidFill>
                  <a:srgbClr val="42536A"/>
                </a:solidFill>
                <a:latin typeface="Arial"/>
                <a:ea typeface="Arial"/>
                <a:cs typeface="Arial"/>
              </a:rPr>
              <a:t>SHA-256</a:t>
            </a:r>
          </a:p>
        </p:txBody>
      </p:sp>
      <p:sp>
        <p:nvSpPr>
          <p:cNvPr id="5" name="">
            <a:extLst xmlns:a="http://schemas.openxmlformats.org/drawingml/2006/main">
              <a:ext uri="{FF2B5EF4-FFF2-40B4-BE49-F238E27FC236}">
                <a16:creationId xmlns:a16="http://schemas.microsoft.com/office/drawing/2014/main" id="{5F1CE505-9CED-4487-8706-8C8CBE5722EA}"/>
              </a:ext>
            </a:extLst>
          </p:cNvPr>
          <p:cNvSpPr>
            <a:spLocks xmlns:a="http://schemas.openxmlformats.org/drawingml/2006/main" noGrp="1"/>
          </p:cNvSpPr>
          <p:nvPr/>
        </p:nvSpPr>
        <p:spPr>
          <a:xfrm xmlns:a="http://schemas.openxmlformats.org/drawingml/2006/main">
            <a:off x="609600" y="5781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B4D"/>
                </a:solidFill>
                <a:latin typeface="Arial"/>
                <a:ea typeface="Arial"/>
                <a:cs typeface="Arial"/>
              </a:defRPr>
            </a:defPPr>
          </a:lstStyle>
          <a:p xmlns:a="http://schemas.openxmlformats.org/drawingml/2006/main">
            <a:pPr>
              <a:defRPr sz="2250" b="1">
                <a:solidFill>
                  <a:srgbClr val="172B4D"/>
                </a:solidFill>
                <a:latin typeface="Arial"/>
                <a:ea typeface="Arial"/>
                <a:cs typeface="Arial"/>
              </a:defRPr>
            </a:pPr>
            <a:r>
              <a:rPr sz="2250" b="1">
                <a:solidFill>
                  <a:srgbClr val="172B4D"/>
                </a:solidFill>
                <a:latin typeface="Arial"/>
                <a:ea typeface="Arial"/>
                <a:cs typeface="Arial"/>
              </a:rPr>
              <a:t>Backup đã khôi phục khớp vào database thử riêng.</a:t>
            </a:r>
          </a:p>
        </p:txBody>
      </p:sp>
    </p:spTree>
    <p:extLst>
      <p:ext uri="{BB962C8B-B14F-4D97-AF65-F5344CB8AC3E}">
        <p14:creationId xmlns:p14="http://schemas.microsoft.com/office/powerpoint/2010/main" val="1670167903"/>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A8DBDA-0DD5-4066-8AC4-F7AF8C965AC6}"/>
              </a:ext>
            </a:extLst>
          </p:cNvPr>
          <p:cNvSpPr>
            <a:spLocks xmlns:a="http://schemas.openxmlformats.org/drawingml/2006/main" noGrp="1"/>
          </p:cNvSpPr>
          <p:nvPr/>
        </p:nvSpPr>
        <p:spPr>
          <a:xfrm xmlns:a="http://schemas.openxmlformats.org/drawingml/2006/main">
            <a:off x="609600" y="4762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4D"/>
                </a:solidFill>
                <a:latin typeface="Arial"/>
                <a:ea typeface="Arial"/>
                <a:cs typeface="Arial"/>
              </a:defRPr>
            </a:defPPr>
          </a:lstStyle>
          <a:p xmlns:a="http://schemas.openxmlformats.org/drawingml/2006/main">
            <a:pPr>
              <a:defRPr sz="3300" b="1">
                <a:solidFill>
                  <a:srgbClr val="172B4D"/>
                </a:solidFill>
                <a:latin typeface="Arial"/>
                <a:ea typeface="Arial"/>
                <a:cs typeface="Arial"/>
              </a:defRPr>
            </a:pPr>
            <a:r>
              <a:rPr sz="3300" b="1">
                <a:solidFill>
                  <a:srgbClr val="172B4D"/>
                </a:solidFill>
                <a:latin typeface="Arial"/>
                <a:ea typeface="Arial"/>
                <a:cs typeface="Arial"/>
              </a:rPr>
              <a:t>Phạm vi và bước nghiệm thu còn lại</a:t>
            </a:r>
          </a:p>
        </p:txBody>
      </p:sp>
      <p:sp>
        <p:nvSpPr>
          <p:cNvPr id="2" name="">
            <a:extLst xmlns:a="http://schemas.openxmlformats.org/drawingml/2006/main">
              <a:ext uri="{FF2B5EF4-FFF2-40B4-BE49-F238E27FC236}">
                <a16:creationId xmlns:a16="http://schemas.microsoft.com/office/drawing/2014/main" id="{E3C9D039-481B-421F-95D9-5D3E5B179AA7}"/>
              </a:ext>
            </a:extLst>
          </p:cNvPr>
          <p:cNvSpPr>
            <a:spLocks xmlns:a="http://schemas.openxmlformats.org/drawingml/2006/main" noGrp="1"/>
          </p:cNvSpPr>
          <p:nvPr/>
        </p:nvSpPr>
        <p:spPr>
          <a:xfrm xmlns:a="http://schemas.openxmlformats.org/drawingml/2006/main">
            <a:off x="11144250" y="6324600"/>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2536A"/>
                </a:solidFill>
                <a:latin typeface="Arial"/>
                <a:ea typeface="Arial"/>
                <a:cs typeface="Arial"/>
              </a:defRPr>
            </a:defPPr>
          </a:lstStyle>
          <a:p xmlns:a="http://schemas.openxmlformats.org/drawingml/2006/main">
            <a:pPr>
              <a:defRPr sz="1725" b="0">
                <a:solidFill>
                  <a:srgbClr val="42536A"/>
                </a:solidFill>
                <a:latin typeface="Arial"/>
                <a:ea typeface="Arial"/>
                <a:cs typeface="Arial"/>
              </a:defRPr>
            </a:pPr>
            <a:r>
              <a:rPr sz="1725" b="0">
                <a:solidFill>
                  <a:srgbClr val="42536A"/>
                </a:solidFill>
                <a:latin typeface="Arial"/>
                <a:ea typeface="Arial"/>
                <a:cs typeface="Arial"/>
              </a:rPr>
              <a:t>7</a:t>
            </a:r>
          </a:p>
        </p:txBody>
      </p:sp>
      <p:sp>
        <p:nvSpPr>
          <p:cNvPr id="3" name="">
            <a:extLst xmlns:a="http://schemas.openxmlformats.org/drawingml/2006/main">
              <a:ext uri="{FF2B5EF4-FFF2-40B4-BE49-F238E27FC236}">
                <a16:creationId xmlns:a16="http://schemas.microsoft.com/office/drawing/2014/main" id="{9BE3D9B0-2F18-43C9-913A-CB2EB5E99C45}"/>
              </a:ext>
            </a:extLst>
          </p:cNvPr>
          <p:cNvSpPr>
            <a:spLocks xmlns:a="http://schemas.openxmlformats.org/drawingml/2006/main" noGrp="1"/>
          </p:cNvSpPr>
          <p:nvPr/>
        </p:nvSpPr>
        <p:spPr>
          <a:xfrm xmlns:a="http://schemas.openxmlformats.org/drawingml/2006/main">
            <a:off x="609600" y="16668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F8C"/>
                </a:solidFill>
                <a:latin typeface="Arial"/>
                <a:ea typeface="Arial"/>
                <a:cs typeface="Arial"/>
              </a:defRPr>
            </a:def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Đã kiểm tra</a:t>
            </a:r>
          </a:p>
        </p:txBody>
      </p:sp>
      <p:sp>
        <p:nvSpPr>
          <p:cNvPr id="4" name="">
            <a:extLst xmlns:a="http://schemas.openxmlformats.org/drawingml/2006/main">
              <a:ext uri="{FF2B5EF4-FFF2-40B4-BE49-F238E27FC236}">
                <a16:creationId xmlns:a16="http://schemas.microsoft.com/office/drawing/2014/main" id="{C1D05D33-62D2-49F5-B3BE-41C67883AB81}"/>
              </a:ext>
            </a:extLst>
          </p:cNvPr>
          <p:cNvSpPr>
            <a:spLocks xmlns:a="http://schemas.openxmlformats.org/drawingml/2006/main" noGrp="1"/>
          </p:cNvSpPr>
          <p:nvPr/>
        </p:nvSpPr>
        <p:spPr>
          <a:xfrm xmlns:a="http://schemas.openxmlformats.org/drawingml/2006/main">
            <a:off x="609600" y="2428875"/>
            <a:ext cx="5143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B4D"/>
                </a:solidFill>
                <a:latin typeface="Arial"/>
                <a:ea typeface="Arial"/>
                <a:cs typeface="Arial"/>
              </a:defRPr>
            </a:defPPr>
          </a:lstStyle>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66 bài kiểm tra qua.</a:t>
            </a:r>
          </a:p>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708 file primary giữ nguyên.</a:t>
            </a:r>
          </a:p>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Upload tối đa 50 MiB.</a:t>
            </a:r>
          </a:p>
        </p:txBody>
      </p:sp>
      <p:sp>
        <p:nvSpPr>
          <p:cNvPr id="5" name="">
            <a:extLst xmlns:a="http://schemas.openxmlformats.org/drawingml/2006/main">
              <a:ext uri="{FF2B5EF4-FFF2-40B4-BE49-F238E27FC236}">
                <a16:creationId xmlns:a16="http://schemas.microsoft.com/office/drawing/2014/main" id="{0001D49E-2F08-413E-AD6F-FE6023A6D70E}"/>
              </a:ext>
            </a:extLst>
          </p:cNvPr>
          <p:cNvSpPr>
            <a:spLocks xmlns:a="http://schemas.openxmlformats.org/drawingml/2006/main" noGrp="1"/>
          </p:cNvSpPr>
          <p:nvPr/>
        </p:nvSpPr>
        <p:spPr>
          <a:xfrm xmlns:a="http://schemas.openxmlformats.org/drawingml/2006/main">
            <a:off x="6572250" y="1666875"/>
            <a:ext cx="5010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F8C"/>
                </a:solidFill>
                <a:latin typeface="Arial"/>
                <a:ea typeface="Arial"/>
                <a:cs typeface="Arial"/>
              </a:defRPr>
            </a:def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Còn cần kiểm chứng</a:t>
            </a:r>
          </a:p>
        </p:txBody>
      </p:sp>
      <p:sp>
        <p:nvSpPr>
          <p:cNvPr id="6" name="">
            <a:extLst xmlns:a="http://schemas.openxmlformats.org/drawingml/2006/main">
              <a:ext uri="{FF2B5EF4-FFF2-40B4-BE49-F238E27FC236}">
                <a16:creationId xmlns:a16="http://schemas.microsoft.com/office/drawing/2014/main" id="{6550FA3A-F4E8-4640-AFBB-604BBB407FE7}"/>
              </a:ext>
            </a:extLst>
          </p:cNvPr>
          <p:cNvSpPr>
            <a:spLocks xmlns:a="http://schemas.openxmlformats.org/drawingml/2006/main" noGrp="1"/>
          </p:cNvSpPr>
          <p:nvPr/>
        </p:nvSpPr>
        <p:spPr>
          <a:xfrm xmlns:a="http://schemas.openxmlformats.org/drawingml/2006/main">
            <a:off x="6572250" y="2428875"/>
            <a:ext cx="50101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B4D"/>
                </a:solidFill>
                <a:latin typeface="Arial"/>
                <a:ea typeface="Arial"/>
                <a:cs typeface="Arial"/>
              </a:defRPr>
            </a:defPPr>
          </a:lstStyle>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Máy bạn nhóm: 15/10.</a:t>
            </a:r>
          </a:p>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Malware binary thật: chưa chứng minh.</a:t>
            </a:r>
          </a:p>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Auth / M5: cần quyết định riêng.</a:t>
            </a:r>
          </a:p>
        </p:txBody>
      </p:sp>
      <p:sp>
        <p:nvSpPr>
          <p:cNvPr id="7" name="">
            <a:extLst xmlns:a="http://schemas.openxmlformats.org/drawingml/2006/main">
              <a:ext uri="{FF2B5EF4-FFF2-40B4-BE49-F238E27FC236}">
                <a16:creationId xmlns:a16="http://schemas.microsoft.com/office/drawing/2014/main" id="{E15F653B-9E55-44EB-BCB8-FEAC90B8B4CB}"/>
              </a:ext>
            </a:extLst>
          </p:cNvPr>
          <p:cNvSpPr>
            <a:spLocks xmlns:a="http://schemas.openxmlformats.org/drawingml/2006/main" noGrp="1"/>
          </p:cNvSpPr>
          <p:nvPr/>
        </p:nvSpPr>
        <p:spPr>
          <a:xfrm xmlns:a="http://schemas.openxmlformats.org/drawingml/2006/main">
            <a:off x="609600" y="51435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B4D"/>
                </a:solidFill>
                <a:latin typeface="Arial"/>
                <a:ea typeface="Arial"/>
                <a:cs typeface="Arial"/>
              </a:defRPr>
            </a:defPPr>
          </a:lstStyle>
          <a:p xmlns:a="http://schemas.openxmlformats.org/drawingml/2006/main">
            <a:pPr>
              <a:defRPr sz="2250" b="1">
                <a:solidFill>
                  <a:srgbClr val="172B4D"/>
                </a:solidFill>
                <a:latin typeface="Arial"/>
                <a:ea typeface="Arial"/>
                <a:cs typeface="Arial"/>
              </a:defRPr>
            </a:pPr>
            <a:r>
              <a:rPr sz="2250" b="1">
                <a:solidFill>
                  <a:srgbClr val="172B4D"/>
                </a:solidFill>
                <a:latin typeface="Arial"/>
                <a:ea typeface="Arial"/>
                <a:cs typeface="Arial"/>
              </a:rPr>
              <a:t>Giao diện rõ hơn không làm tỷ lệ phát hiện tự tăng.</a:t>
            </a:r>
          </a:p>
        </p:txBody>
      </p:sp>
    </p:spTree>
    <p:extLst>
      <p:ext uri="{BB962C8B-B14F-4D97-AF65-F5344CB8AC3E}">
        <p14:creationId xmlns:p14="http://schemas.microsoft.com/office/powerpoint/2010/main" val="3685616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2026-10-14T04:07:38.7270000Z</dcterms:created>
  <dcterms:modified xsi:type="dcterms:W3CDTF">2026-10-14T04:07:38.7270000Z</dcterms:modified>
</coreProperties>
</file>